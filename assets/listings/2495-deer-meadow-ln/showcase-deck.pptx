
<file path=[Content_Types].xml><?xml version="1.0" encoding="utf-8"?>
<Types xmlns="http://schemas.openxmlformats.org/package/2006/content-types">
  <Default Extension="jpeg" ContentType="image/jpeg"/>
  <Default Extension="jpg" ContentType="image/jpg"/>
  <Default Extension="rels" ContentType="application/vnd.openxmlformats-package.relationships+xml"/>
  <Default Extension="fntdata" ContentType="application/x-fontdata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embeddedFontLst>
    <p:embeddedFont>
      <p:font typeface="Aboreto" pitchFamily="18" charset="0"/>
      <p:regular r:id="rId41"/>
    </p:embeddedFont>
    <p:embeddedFont>
      <p:font typeface="Mulish" pitchFamily="34" charset="0"/>
      <p:regular r:id="rId42"/>
      <p:bold r:id="rId4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41" Type="http://schemas.openxmlformats.org/officeDocument/2006/relationships/font" Target="fonts/font1.fntdata"/><Relationship Id="rId42" Type="http://schemas.openxmlformats.org/officeDocument/2006/relationships/font" Target="fonts/font2.fntdata"/><Relationship Id="rId43" Type="http://schemas.openxmlformats.org/officeDocument/2006/relationships/font" Target="fonts/font3.fntdata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9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Interior images are illustrative renderings only; actual colors, materials, and final specifications may vary. Information deemed reliable but not guaranteed — buyer to verify all details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3931920"/>
            <a:ext cx="12161520" cy="2926080"/>
          </a:xfrm>
          <a:prstGeom prst="rect">
            <a:avLst/>
          </a:prstGeom>
          <a:solidFill>
            <a:srgbClr val="000000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RARE ESTATE OPPORTUNITY  ·  ARRINGTON, TENNESSEE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94360" y="3611880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2495 Deer Meadow Lane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40080" y="4709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8.79 private acres  ·  a modern Scandinavian retreat  ·  room to build your estate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E5E5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$2,700,000</a:t>
            </a:r>
            <a:r>
              <a:rPr lang="en-US" sz="1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 xml:space="preserve">    Offered by The Stonehouse Company  ·  Compass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0"/>
            <a:ext cx="5715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46520" y="0"/>
            <a:ext cx="5715000" cy="6858000"/>
          </a:xfrm>
          <a:prstGeom prst="rect">
            <a:avLst/>
          </a:prstGeom>
          <a:solidFill>
            <a:srgbClr val="141414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123444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The final homesite in an</a:t>
            </a:r>
            <a:endParaRPr lang="en-US" sz="2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enclave of $8M+ estates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297180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Set in the wooded hills of Arrington, this 8.79-acre tract is the last remaining canvas within a private community of custom estates valued at $8 million and above — a level of scarcity that rarely reaches the open market.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0080" y="45262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8.79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5146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ACRES OF PRIVATE LAND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51846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$8M+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2514600" y="5321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SURROUNDING ESTATE VALUES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84301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2026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2514600" y="59801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NEW SCANDINAVIAN BUILD ON SITE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749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0" y="1097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Property overview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029200" y="205740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303520" y="22585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8.79 AC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5303520" y="2807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Lot size (382,892 SF)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549640" y="205740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823960" y="22585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3,000 SF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8823960" y="2807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Barndominium residence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356616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303520" y="3767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3 BD / 1.5 BA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30352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Plus 2nd-floor bonus room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549640" y="356616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823960" y="3767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Built 2026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882396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New construction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0" y="507492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303520" y="5276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Williamson Co.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5303520" y="5824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Top-rated school district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549640" y="5074920"/>
            <a:ext cx="320040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823960" y="5276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Septic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8823960" y="5824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Serviced &amp; build-ready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LAND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8.79 acres in the hills of Arrington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955280" cy="443941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915400" y="173736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E5E5E5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quiet, wooded canvas.
</a:t>
            </a:r>
            <a:r>
              <a:rPr lang="en-US" sz="12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Rolling topography and mature tree cover on a private street — space to build, entertain, and retreat, all inside prestigious Williamson County.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023360"/>
            <a:ext cx="2606040" cy="2148840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5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4114800"/>
            <a:ext cx="12161520" cy="2743200"/>
          </a:xfrm>
          <a:prstGeom prst="rect">
            <a:avLst/>
          </a:prstGeom>
          <a:solidFill>
            <a:srgbClr val="000000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RESIDENCE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9436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Scandinavian-style barndominium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0749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3,000 sq. ft. of clean, modern design — three bedrooms, a full kitchen, and a soaring second-floor bonus room. Live on-site in comfort while your main estate takes shape, or keep it as a private high-end retreat.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Warm, minimal, light-filled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6903720" cy="4434840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783080"/>
            <a:ext cx="379476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4087368"/>
            <a:ext cx="379476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8" name="Text 3"/>
          <p:cNvSpPr/>
          <p:nvPr/>
        </p:nvSpPr>
        <p:spPr>
          <a:xfrm>
            <a:off x="4800600" y="64739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Every room considered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87952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187952"/>
            <a:ext cx="5349240" cy="2130552"/>
          </a:xfrm>
          <a:prstGeom prst="rect">
            <a:avLst/>
          </a:prstGeom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9" name="Text 3"/>
          <p:cNvSpPr/>
          <p:nvPr/>
        </p:nvSpPr>
        <p:spPr>
          <a:xfrm>
            <a:off x="4800600" y="64739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0"/>
            <a:ext cx="63093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52160" y="0"/>
            <a:ext cx="1463040" cy="6858000"/>
          </a:xfrm>
          <a:prstGeom prst="rect">
            <a:avLst/>
          </a:prstGeom>
          <a:solidFill>
            <a:srgbClr val="141414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FLEXIBLE BY DESIGN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4360" y="128016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bonus level built for how</a:t>
            </a:r>
            <a:endParaRPr lang="en-US" sz="2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you actually live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2980944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2926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Recording studio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32552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Acoustically ideal, private second-floor volume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822192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37673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Golf simulator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4096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Height and footprint for a full swing bay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663440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46085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3-car garage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937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Convert the structure for luxury vehicle storage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5504688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14400" y="544982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In-law suite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5779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self-contained private residence for guests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141414">
              <a:alpha val="3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141414">
              <a:alpha val="5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41414">
              <a:alpha val="7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BONUS LEVEL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94360" y="1143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 recording studio,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built in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soaring second-floor volume is tailor-made for music — wood-lined for warmth, filled with natural light, and sized to track, mix, and unwind.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4041648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32688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Vaulted timber acoustics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2688" y="4297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Warm, wood-lined room with height to spare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8368" y="4828032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32688" y="47640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Track, mix &amp; produce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932688" y="50840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Room for a full console, monitors, and live takes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5614416"/>
            <a:ext cx="128016" cy="1280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32688" y="5550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Listening lounge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32688" y="58704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Instruments, seating, and a vinyl corner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CCCCC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663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FUTURE POTENTIAL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120640" y="105156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Build the estate you</a:t>
            </a:r>
            <a:endParaRPr lang="en-US" sz="2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have in mind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120640" y="2514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site is prepared and build-ready for a custom 4-bedroom, 3-bath residence — equally suited to a modern-minimal or an organic European estate aesthetic.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120640" y="3794760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349240" y="389534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Live while you build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0" y="3895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Occupy the barndominium and oversee construction on-site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120640" y="4636008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349240" y="473659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blank canvas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772400" y="47365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8.79 acres to site your home, pool, and outbuildings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120640" y="5477256"/>
            <a:ext cx="635508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349240" y="5577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Instant pedigree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772400" y="5577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Enter a proven $8M+ enclave from day one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DESIGN NARRATIVE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The Design Vision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 curated narrative for the estate — exterior elevations, interiors, landscape,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and the material and fixture selections that define it.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77824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97280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16736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536192" y="5166360"/>
            <a:ext cx="118872" cy="1188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sign_slides/d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LOCATION &amp; SCHOOLS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Arrington — Williamson County, Tennessee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One of the Nashville region's most sought-after addresses: acreage, privacy, and quiet roads — minutes from Franklin, wineries, and top-tier amenities, within an award-winning public school district.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9/10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7840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Fred J Page High School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Grades 9–12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8056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7/10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1888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0060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Fred J Page Middle School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80060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Grades 6–8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321040" y="3063240"/>
            <a:ext cx="3520440" cy="2148840"/>
          </a:xfrm>
          <a:prstGeom prst="rect">
            <a:avLst/>
          </a:prstGeom>
          <a:solidFill>
            <a:srgbClr val="1E1E1E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41080" y="33832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7/10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659368" y="41422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GREATSCHOOLS RATING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41080" y="4434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Arrington Elementary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41080" y="481888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Grades PK–5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23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School ratings via GreatSchools.org. Proximity and boundaries are not a guarantee of enrollment; verify directly with the district.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INVESTMENT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The value case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$2,700,000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Offering price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52044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7647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$900 / SF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77647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On the existing residence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5683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$8M+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65683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Comparable estate values in the enclave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281160" y="1920240"/>
            <a:ext cx="2606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537192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4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$1,873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537192" y="30175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Annual property taxes (2025)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10881360" cy="1417320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4315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Why it holds value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464515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Land in a capped, high-value enclave is inherently scarce. With a finished residence already in place and 8.79 acres to build on, a buyer secures both immediate use and long-horizon upside as the final estate in the community is completed.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THE STONEHOUSE COMPANY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722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200" dirty="0">
                <a:solidFill>
                  <a:srgbClr val="444444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2495 DEER MEADOW LANE  ·  ARRINGTON, TN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141414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ARRANGE A PRIVATE TOUR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Come see what the final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boreto" pitchFamily="34" charset="0"/>
                <a:ea typeface="Aboreto" pitchFamily="34" charset="-122"/>
                <a:cs typeface="Aboreto" pitchFamily="34" charset="-120"/>
              </a:rPr>
              <a:t>homesite feels like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85800" y="342900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Private showings by appointment. I'd be glad to walk the land with you and talk through build options and timeline.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Ryan  ·  The Stonehouse Company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920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5E5E5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(615) 812-0066
ryan@stonehouserealtyco.com
thestonehouseco.com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925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Interior images are artist's renderings for illustrative purposes only; final finishes and specifications may vary.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85800" y="6291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888888"/>
                </a:solidFill>
                <a:latin typeface="Mulish" pitchFamily="34" charset="0"/>
                <a:ea typeface="Mulish" pitchFamily="34" charset="-122"/>
                <a:cs typeface="Mulish" pitchFamily="34" charset="-120"/>
              </a:rPr>
              <a:t>Offered at $2,700,000  ·  Compass  ·  Equal Housing Opportunity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ulish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919</Words>
  <Application>Microsoft Macintosh PowerPoint</Application>
  <PresentationFormat>Widescreen</PresentationFormat>
  <Paragraphs>165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ryan stonehouse</cp:lastModifiedBy>
  <cp:revision>1</cp:revision>
  <dcterms:created xsi:type="dcterms:W3CDTF">2026-07-09T17:26:04Z</dcterms:created>
  <dcterms:modified xsi:type="dcterms:W3CDTF">2026-07-09T17:28:40Z</dcterms:modified>
</cp:coreProperties>
</file>